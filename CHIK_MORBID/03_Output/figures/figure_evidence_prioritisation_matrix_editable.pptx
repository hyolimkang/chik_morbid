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82880"/>
            <a:ext cx="1152144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202B3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Evidence prioritisation of SINAN-recorded underlying conditions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320040" y="530352"/>
            <a:ext cx="11521440" cy="219456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50" i="0" b="0" u="none" strike="noStrike">
                <a:solidFill>
                  <a:srgbClr val="59687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Evidence was separated into independent primary studies, overlapping Brazilian surveillance studies, and evidence syntheses.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320040" y="859536"/>
          <a:ext cx="11201400" cy="3794760"/>
        </p:xfrm>
        <a:graphic>
          <a:graphicData uri="http://schemas.openxmlformats.org/drawingml/2006/table">
            <a:tbl>
              <a:tblPr/>
              <a:tblGrid>
                <a:gridCol w="1874520"/>
                <a:gridCol w="2331720"/>
                <a:gridCol w="2423160"/>
                <a:gridCol w="164592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Condition</a:t>
                      </a:r>
                    </a:p>
                  </a:txBody>
                  <a:tcPr anchor="ctr" marB="50800" marT="50800" marR="0" marL="0">
                    <a:lnL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0F3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Independent primary evidence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0F3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Overlapping Brazilian evidence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0F3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Evidence synthesis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0F3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Final analysis role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0F3F4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Diabetes mellitus</a:t>
                      </a:r>
                    </a:p>
                  </a:txBody>
                  <a:tcPr anchor="ctr" marB="50800" marT="50800" marR="0" marL="0">
                    <a:lnL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 ↑</a:t>
                      </a:r>
                      <a:b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imprecise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 ↑</a:t>
                      </a:r>
                      <a:b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↑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↑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E7058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CORE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DDEDE5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Hypertension</a:t>
                      </a:r>
                    </a:p>
                  </a:txBody>
                  <a:tcPr anchor="ctr" marB="50800" marT="50800" marR="0" marL="0">
                    <a:lnL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 ↑; H mixed</a:t>
                      </a:r>
                      <a:b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imprecise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 ↑</a:t>
                      </a:r>
                      <a:b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↑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↑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E7058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CORE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DDEDE5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Chronic kidney disease</a:t>
                      </a:r>
                    </a:p>
                  </a:txBody>
                  <a:tcPr anchor="ctr" marB="50800" marT="50800" marR="0" marL="0">
                    <a:lnL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 ↑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 ↑</a:t>
                      </a:r>
                      <a:b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↑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↑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E7058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CORE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DDEDE5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Hepatopathy / liver disease</a:t>
                      </a:r>
                    </a:p>
                  </a:txBody>
                  <a:tcPr anchor="ctr" marB="50800" marT="50800" marR="0" marL="0">
                    <a:lnL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 direct</a:t>
                      </a:r>
                      <a:b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evidence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↑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Limited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53646D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SECONDARY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EEF2F4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Autoimmune disease</a:t>
                      </a:r>
                    </a:p>
                  </a:txBody>
                  <a:tcPr anchor="ctr" marB="50800" marT="50800" marR="0" marL="0">
                    <a:lnL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 direct</a:t>
                      </a:r>
                      <a:b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evidence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 ↑</a:t>
                      </a:r>
                      <a:b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 ↑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Sparse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53646D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SECONDARY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EEF2F4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Haematological disease</a:t>
                      </a:r>
                    </a:p>
                  </a:txBody>
                  <a:tcPr anchor="ctr" marB="50800" marT="50800" marR="0" marL="0">
                    <a:lnL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Sparse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Sparse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Sparse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69767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NOT</a:t>
                      </a:r>
                      <a:br>
                        <a:rPr cap="none" sz="1000" i="0" b="1" u="none" strike="noStrike">
                          <a:solidFill>
                            <a:srgbClr val="69767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 strike="noStrike">
                          <a:solidFill>
                            <a:srgbClr val="69767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PRIORITISED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B>
                    <a:solidFill>
                      <a:srgbClr val="F5F6F6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Peptic ulcer disease</a:t>
                      </a:r>
                    </a:p>
                  </a:txBody>
                  <a:tcPr anchor="ctr" marB="50800" marT="50800" marR="0" marL="0">
                    <a:lnL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Sparse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 mixed /</a:t>
                      </a:r>
                      <a:b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 clear increase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202B31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Sparse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69767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NOT</a:t>
                      </a:r>
                      <a:br>
                        <a:rPr cap="none" sz="1000" i="0" b="1" u="none" strike="noStrike">
                          <a:solidFill>
                            <a:srgbClr val="69767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</a:br>
                      <a:r>
                        <a:rPr cap="none" sz="1000" i="0" b="1" u="none" strike="noStrike">
                          <a:solidFill>
                            <a:srgbClr val="69767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PRIORITISED</a:t>
                      </a:r>
                    </a:p>
                  </a:txBody>
                  <a:tcPr anchor="ctr" marB="50800" marT="50800" marR="0" marL="0">
                    <a:lnL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R>
                    <a:lnT algn="ctr" cmpd="sng" cap="flat" w="6985">
                      <a:solidFill>
                        <a:srgbClr val="D8DEE1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B8C3C8">
                          <a:alpha val="100000"/>
                        </a:srgbClr>
                      </a:solidFill>
                      <a:prstDash val="solid"/>
                    </a:lnB>
                    <a:solidFill>
                      <a:srgbClr val="F5F6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320040" y="4818888"/>
            <a:ext cx="114300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700" i="0" b="0" u="none" strike="noStrike">
                <a:solidFill>
                  <a:srgbClr val="59687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H = hospitalisation; S = severe disease; D = death; ↑ = evidence of increased risk.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20040" y="5248656"/>
            <a:ext cx="114300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700" i="0" b="0" u="none" strike="noStrike">
                <a:solidFill>
                  <a:srgbClr val="59687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Brazilian surveillance studies overlapping the present SINAN population were retained as relevant evidence;
they were not counted as independent external replication.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20040" y="5678424"/>
            <a:ext cx="114300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700" i="0" b="0" u="none" strike="noStrike">
                <a:solidFill>
                  <a:srgbClr val="59687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Evidence syntheses were supportive but not independent replication because they could include primary studies
represented elsewhere in the evidence map.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0040" y="6108192"/>
            <a:ext cx="114300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700" i="0" b="0" u="none" strike="noStrike">
                <a:solidFill>
                  <a:srgbClr val="596871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Final prioritisation reflects overall recurrence and relevance across source types, not publication counts.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2026-10-01T10:44:35Z</dcterms:modified>
  <cp:category/>
</cp:coreProperties>
</file>