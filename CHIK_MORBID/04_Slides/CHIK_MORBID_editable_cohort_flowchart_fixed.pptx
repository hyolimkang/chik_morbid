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708900" cy="9144000"/>
  <p:notesSz cx="9144000" cy="77089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28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463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8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Flowchart of cohort selection from Brazilian SINAN chikungunya surveillance data, 2015–2024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65760" y="512064"/>
            <a:ext cx="6784848" cy="0"/>
          </a:xfrm>
          <a:prstGeom prst="line">
            <a:avLst/>
          </a:prstGeom>
          <a:noFill/>
          <a:ln w="8890">
            <a:solidFill>
              <a:srgbClr val="D3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822960" y="841248"/>
            <a:ext cx="3291840" cy="694944"/>
          </a:xfrm>
          <a:prstGeom prst="roundRect">
            <a:avLst/>
          </a:prstGeom>
          <a:solidFill>
            <a:srgbClr val="DDECF5"/>
          </a:solidFill>
          <a:ln w="11430">
            <a:solidFill>
              <a:srgbClr val="7AA1B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914400" y="896112"/>
            <a:ext cx="310896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18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SINAN chikungunya records, 2015–2024</a:t>
            </a:r>
            <a:endParaRPr lang="en-US" sz="1060" dirty="0"/>
          </a:p>
          <a:p>
            <a:pPr marL="0" indent="0" algn="ctr">
              <a:buNone/>
            </a:pP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18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2,109,723</a:t>
            </a:r>
            <a:endParaRPr lang="en-US" sz="106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3291840" cy="694944"/>
          </a:xfrm>
          <a:prstGeom prst="roundRect">
            <a:avLst/>
          </a:prstGeom>
          <a:solidFill>
            <a:srgbClr val="DDECF5"/>
          </a:solidFill>
          <a:ln w="11430">
            <a:solidFill>
              <a:srgbClr val="7AA1B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914400" y="1929384"/>
            <a:ext cx="310896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18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chikungunya cases</a:t>
            </a:r>
            <a:endParaRPr lang="en-US" sz="1060" dirty="0"/>
          </a:p>
          <a:p>
            <a:pPr marL="0" indent="0" algn="ctr">
              <a:buNone/>
            </a:pP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18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1,057,662</a:t>
            </a:r>
            <a:endParaRPr lang="en-US" sz="1060" dirty="0"/>
          </a:p>
        </p:txBody>
      </p:sp>
      <p:sp>
        <p:nvSpPr>
          <p:cNvPr id="8" name="Shape 6"/>
          <p:cNvSpPr/>
          <p:nvPr/>
        </p:nvSpPr>
        <p:spPr>
          <a:xfrm>
            <a:off x="822960" y="2907792"/>
            <a:ext cx="3291840" cy="694944"/>
          </a:xfrm>
          <a:prstGeom prst="roundRect">
            <a:avLst/>
          </a:prstGeom>
          <a:solidFill>
            <a:srgbClr val="DDECF5"/>
          </a:solidFill>
          <a:ln w="11430">
            <a:solidFill>
              <a:srgbClr val="7AA1B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14400" y="2962656"/>
            <a:ext cx="310896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18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Notified/onset in 2017 or later</a:t>
            </a:r>
            <a:endParaRPr lang="en-US" sz="1060" dirty="0"/>
          </a:p>
          <a:p>
            <a:pPr marL="0" indent="0" algn="ctr">
              <a:buNone/>
            </a:pP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18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966,146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822960" y="4041648"/>
            <a:ext cx="3291840" cy="694944"/>
          </a:xfrm>
          <a:prstGeom prst="roundRect">
            <a:avLst/>
          </a:prstGeom>
          <a:solidFill>
            <a:srgbClr val="DDECF5"/>
          </a:solidFill>
          <a:ln w="11430">
            <a:solidFill>
              <a:srgbClr val="7AA1B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914400" y="4096512"/>
            <a:ext cx="310896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18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age (0–100 years) and sex</a:t>
            </a:r>
            <a:endParaRPr lang="en-US" sz="1060" dirty="0"/>
          </a:p>
          <a:p>
            <a:pPr marL="0" indent="0" algn="ctr">
              <a:buNone/>
            </a:pP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18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964,847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822960" y="5175504"/>
            <a:ext cx="3291840" cy="694944"/>
          </a:xfrm>
          <a:prstGeom prst="roundRect">
            <a:avLst/>
          </a:prstGeom>
          <a:solidFill>
            <a:srgbClr val="CFE6F3"/>
          </a:solidFill>
          <a:ln w="11430">
            <a:solidFill>
              <a:srgbClr val="7AA1B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914400" y="5230368"/>
            <a:ext cx="310896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8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DM, HTN, and CKD status known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18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(core-3 complete case)</a:t>
            </a:r>
            <a:endParaRPr lang="en-US" sz="1020" dirty="0"/>
          </a:p>
          <a:p>
            <a:pPr marL="0" indent="0" algn="ctr">
              <a:buNone/>
            </a:pP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18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964,685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2468880" y="1536192"/>
            <a:ext cx="0" cy="338328"/>
          </a:xfrm>
          <a:prstGeom prst="line">
            <a:avLst/>
          </a:prstGeom>
          <a:noFill/>
          <a:ln w="11430">
            <a:solidFill>
              <a:srgbClr val="7B9BA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468880" y="1705356"/>
            <a:ext cx="2121408" cy="0"/>
          </a:xfrm>
          <a:prstGeom prst="line">
            <a:avLst/>
          </a:prstGeom>
          <a:noFill/>
          <a:ln w="11430">
            <a:solidFill>
              <a:srgbClr val="7B9BA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590288" y="1490472"/>
            <a:ext cx="2404872" cy="530352"/>
          </a:xfrm>
          <a:prstGeom prst="roundRect">
            <a:avLst/>
          </a:prstGeom>
          <a:solidFill>
            <a:srgbClr val="F3F5F6"/>
          </a:solidFill>
          <a:ln w="10160">
            <a:solidFill>
              <a:srgbClr val="A9B4B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681728" y="1527048"/>
            <a:ext cx="2221992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E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
Not confirmed chikungunya
</a:t>
            </a:r>
            <a:r>
              <a:rPr lang="en-US" sz="900" b="1" dirty="0">
                <a:solidFill>
                  <a:srgbClr val="18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1,052,061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468880" y="2569464"/>
            <a:ext cx="0" cy="338328"/>
          </a:xfrm>
          <a:prstGeom prst="line">
            <a:avLst/>
          </a:prstGeom>
          <a:noFill/>
          <a:ln w="11430">
            <a:solidFill>
              <a:srgbClr val="7B9BA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2468880" y="2738628"/>
            <a:ext cx="2121408" cy="0"/>
          </a:xfrm>
          <a:prstGeom prst="line">
            <a:avLst/>
          </a:prstGeom>
          <a:noFill/>
          <a:ln w="11430">
            <a:solidFill>
              <a:srgbClr val="7B9BA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590288" y="2523744"/>
            <a:ext cx="2404872" cy="530352"/>
          </a:xfrm>
          <a:prstGeom prst="roundRect">
            <a:avLst/>
          </a:prstGeom>
          <a:solidFill>
            <a:srgbClr val="F3F5F6"/>
          </a:solidFill>
          <a:ln w="10160">
            <a:solidFill>
              <a:srgbClr val="A9B4B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681728" y="2560320"/>
            <a:ext cx="2221992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E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
Before 2017 or missing event date
</a:t>
            </a:r>
            <a:r>
              <a:rPr lang="en-US" sz="900" b="1" dirty="0">
                <a:solidFill>
                  <a:srgbClr val="18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91,516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468880" y="3602736"/>
            <a:ext cx="0" cy="438912"/>
          </a:xfrm>
          <a:prstGeom prst="line">
            <a:avLst/>
          </a:prstGeom>
          <a:noFill/>
          <a:ln w="11430">
            <a:solidFill>
              <a:srgbClr val="7B9BA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2468880" y="3822192"/>
            <a:ext cx="2121408" cy="0"/>
          </a:xfrm>
          <a:prstGeom prst="line">
            <a:avLst/>
          </a:prstGeom>
          <a:noFill/>
          <a:ln w="11430">
            <a:solidFill>
              <a:srgbClr val="7B9BA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590288" y="3657600"/>
            <a:ext cx="2404872" cy="530352"/>
          </a:xfrm>
          <a:prstGeom prst="roundRect">
            <a:avLst/>
          </a:prstGeom>
          <a:solidFill>
            <a:srgbClr val="F3F5F6"/>
          </a:solidFill>
          <a:ln w="10160">
            <a:solidFill>
              <a:srgbClr val="A9B4B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681728" y="3694176"/>
            <a:ext cx="2221992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E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
Invalid/missing age or sex
</a:t>
            </a:r>
            <a:r>
              <a:rPr lang="en-US" sz="900" b="1" dirty="0">
                <a:solidFill>
                  <a:srgbClr val="18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1,299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468880" y="4736592"/>
            <a:ext cx="0" cy="438912"/>
          </a:xfrm>
          <a:prstGeom prst="line">
            <a:avLst/>
          </a:prstGeom>
          <a:noFill/>
          <a:ln w="11430">
            <a:solidFill>
              <a:srgbClr val="7B9BA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2468880" y="4956048"/>
            <a:ext cx="2121408" cy="0"/>
          </a:xfrm>
          <a:prstGeom prst="line">
            <a:avLst/>
          </a:prstGeom>
          <a:noFill/>
          <a:ln w="11430">
            <a:solidFill>
              <a:srgbClr val="7B9BA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4590288" y="4791456"/>
            <a:ext cx="2404872" cy="530352"/>
          </a:xfrm>
          <a:prstGeom prst="roundRect">
            <a:avLst/>
          </a:prstGeom>
          <a:solidFill>
            <a:srgbClr val="F3F5F6"/>
          </a:solidFill>
          <a:ln w="10160">
            <a:solidFill>
              <a:srgbClr val="A9B4B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681728" y="4828032"/>
            <a:ext cx="2221992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E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
At least one DM, HTN, or CKD field unknown/missing
</a:t>
            </a:r>
            <a:r>
              <a:rPr lang="en-US" sz="900" b="1" dirty="0">
                <a:solidFill>
                  <a:srgbClr val="18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162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468880" y="5870448"/>
            <a:ext cx="0" cy="466344"/>
          </a:xfrm>
          <a:prstGeom prst="line">
            <a:avLst/>
          </a:prstGeom>
          <a:noFill/>
          <a:ln w="11430">
            <a:solidFill>
              <a:srgbClr val="7B9BA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1298448" y="6336792"/>
            <a:ext cx="2331720" cy="0"/>
          </a:xfrm>
          <a:prstGeom prst="line">
            <a:avLst/>
          </a:prstGeom>
          <a:noFill/>
          <a:ln w="11430">
            <a:solidFill>
              <a:srgbClr val="7B9BA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1298448" y="6336792"/>
            <a:ext cx="0" cy="384048"/>
          </a:xfrm>
          <a:prstGeom prst="line">
            <a:avLst/>
          </a:prstGeom>
          <a:noFill/>
          <a:ln w="11430">
            <a:solidFill>
              <a:srgbClr val="7B9BA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3630168" y="6336792"/>
            <a:ext cx="0" cy="384048"/>
          </a:xfrm>
          <a:prstGeom prst="line">
            <a:avLst/>
          </a:prstGeom>
          <a:noFill/>
          <a:ln w="11430">
            <a:solidFill>
              <a:srgbClr val="7B9BA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329184" y="6729984"/>
            <a:ext cx="1938528" cy="914400"/>
          </a:xfrm>
          <a:prstGeom prst="roundRect">
            <a:avLst/>
          </a:prstGeom>
          <a:solidFill>
            <a:srgbClr val="CFE6F3"/>
          </a:solidFill>
          <a:ln w="11430">
            <a:solidFill>
              <a:srgbClr val="7AA1B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420624" y="6784848"/>
            <a:ext cx="1755648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18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Hospitalisation cohort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18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Hospitalisation status known</a:t>
            </a:r>
            <a:endParaRPr lang="en-US" sz="940" dirty="0"/>
          </a:p>
          <a:p>
            <a:pPr marL="0" indent="0" algn="ctr">
              <a:buNone/>
            </a:pP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18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680,805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2432304" y="6729984"/>
            <a:ext cx="1938528" cy="914400"/>
          </a:xfrm>
          <a:prstGeom prst="roundRect">
            <a:avLst/>
          </a:prstGeom>
          <a:solidFill>
            <a:srgbClr val="CFE6F3"/>
          </a:solidFill>
          <a:ln w="11430">
            <a:solidFill>
              <a:srgbClr val="7AA1B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2523744" y="6784848"/>
            <a:ext cx="1755648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18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Mortality cohort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18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Chikungunya death status known</a:t>
            </a:r>
            <a:endParaRPr lang="en-US" sz="940" dirty="0"/>
          </a:p>
          <a:p>
            <a:pPr marL="0" indent="0" algn="ctr">
              <a:buNone/>
            </a:pP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18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964,685</a:t>
            </a:r>
            <a:endParaRPr lang="en-US" sz="940" dirty="0"/>
          </a:p>
        </p:txBody>
      </p:sp>
      <p:sp>
        <p:nvSpPr>
          <p:cNvPr id="39" name="Shape 37"/>
          <p:cNvSpPr/>
          <p:nvPr/>
        </p:nvSpPr>
        <p:spPr>
          <a:xfrm>
            <a:off x="4590288" y="6327648"/>
            <a:ext cx="2404872" cy="530352"/>
          </a:xfrm>
          <a:prstGeom prst="roundRect">
            <a:avLst/>
          </a:prstGeom>
          <a:solidFill>
            <a:srgbClr val="F3F5F6"/>
          </a:solidFill>
          <a:ln w="10160">
            <a:solidFill>
              <a:srgbClr val="A9B4B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4681728" y="6364224"/>
            <a:ext cx="2221992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E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
Hospitalisation status unknown
</a:t>
            </a:r>
            <a:r>
              <a:rPr lang="en-US" sz="900" b="1" dirty="0">
                <a:solidFill>
                  <a:srgbClr val="18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283,880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90288" y="7242048"/>
            <a:ext cx="2404872" cy="530352"/>
          </a:xfrm>
          <a:prstGeom prst="roundRect">
            <a:avLst/>
          </a:prstGeom>
          <a:solidFill>
            <a:srgbClr val="F3F5F6"/>
          </a:solidFill>
          <a:ln w="10160">
            <a:solidFill>
              <a:srgbClr val="A9B4B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4681728" y="7278624"/>
            <a:ext cx="2221992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E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
Chikungunya death status unknown
</a:t>
            </a:r>
            <a:r>
              <a:rPr lang="en-US" sz="900" b="1" dirty="0">
                <a:solidFill>
                  <a:srgbClr val="18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0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379976" y="6986016"/>
            <a:ext cx="210312" cy="0"/>
          </a:xfrm>
          <a:prstGeom prst="line">
            <a:avLst/>
          </a:prstGeom>
          <a:noFill/>
          <a:ln w="11430">
            <a:solidFill>
              <a:srgbClr val="7B9BA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4379976" y="7498080"/>
            <a:ext cx="210312" cy="0"/>
          </a:xfrm>
          <a:prstGeom prst="line">
            <a:avLst/>
          </a:prstGeom>
          <a:noFill/>
          <a:ln w="11430">
            <a:solidFill>
              <a:srgbClr val="7B9BA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365760" y="8796528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E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 = diabetes mellitus; HTN = hypertension; CKD = chronic kidney disease.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168</Words>
  <Application>Microsoft Office PowerPoint</Application>
  <PresentationFormat>사용자 지정</PresentationFormat>
  <Paragraphs>33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SINAN chikungunya cohort selection</dc:title>
  <dc:subject>Editable cohort flowchart</dc:subject>
  <dc:creator>OpenAI</dc:creator>
  <cp:lastModifiedBy>KANG　HYO　LIM</cp:lastModifiedBy>
  <cp:revision>2</cp:revision>
  <dcterms:created xsi:type="dcterms:W3CDTF">2026-09-28T04:42:20Z</dcterms:created>
  <dcterms:modified xsi:type="dcterms:W3CDTF">2026-09-28T04:56:22Z</dcterms:modified>
</cp:coreProperties>
</file>